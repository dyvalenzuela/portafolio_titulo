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0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7" r:id="rId9"/>
    <p:sldId id="268" r:id="rId10"/>
    <p:sldId id="269" r:id="rId11"/>
    <p:sldId id="272" r:id="rId12"/>
    <p:sldId id="27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633202-33EA-4F64-85DC-F9E0B5B8BA27}" v="59" dt="2026-04-06T01:41:10.1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C6FC76-5F7E-48E5-841A-BEF015AEB92B}" type="datetimeFigureOut">
              <a:rPr lang="es-CL" smtClean="0"/>
              <a:t>03-05-2026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376AD-5371-4EC0-B5B1-AFC795A7EF2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22535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CC191-E861-41FE-B0C4-5E1279EC9889}" type="datetimeFigureOut">
              <a:rPr lang="es-CL" smtClean="0"/>
              <a:t>03-05-2026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B4D14-A2E5-4C4B-90DA-21511E7AC3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118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CC191-E861-41FE-B0C4-5E1279EC9889}" type="datetimeFigureOut">
              <a:rPr lang="es-CL" smtClean="0"/>
              <a:t>03-05-2026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B4D14-A2E5-4C4B-90DA-21511E7AC3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28548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CC191-E861-41FE-B0C4-5E1279EC9889}" type="datetimeFigureOut">
              <a:rPr lang="es-CL" smtClean="0"/>
              <a:t>03-05-2026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B4D14-A2E5-4C4B-90DA-21511E7AC3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65310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CC191-E861-41FE-B0C4-5E1279EC9889}" type="datetimeFigureOut">
              <a:rPr lang="es-CL" smtClean="0"/>
              <a:t>03-05-2026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B4D14-A2E5-4C4B-90DA-21511E7AC3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41357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CC191-E861-41FE-B0C4-5E1279EC9889}" type="datetimeFigureOut">
              <a:rPr lang="es-CL" smtClean="0"/>
              <a:t>03-05-2026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B4D14-A2E5-4C4B-90DA-21511E7AC3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85066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CC191-E861-41FE-B0C4-5E1279EC9889}" type="datetimeFigureOut">
              <a:rPr lang="es-CL" smtClean="0"/>
              <a:t>03-05-2026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B4D14-A2E5-4C4B-90DA-21511E7AC3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14376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CC191-E861-41FE-B0C4-5E1279EC9889}" type="datetimeFigureOut">
              <a:rPr lang="es-CL" smtClean="0"/>
              <a:t>03-05-2026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B4D14-A2E5-4C4B-90DA-21511E7AC3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91280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CC191-E861-41FE-B0C4-5E1279EC9889}" type="datetimeFigureOut">
              <a:rPr lang="es-CL" smtClean="0"/>
              <a:t>03-05-2026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B4D14-A2E5-4C4B-90DA-21511E7AC3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66035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CC191-E861-41FE-B0C4-5E1279EC9889}" type="datetimeFigureOut">
              <a:rPr lang="es-CL" smtClean="0"/>
              <a:t>03-05-2026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B4D14-A2E5-4C4B-90DA-21511E7AC3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23007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CC191-E861-41FE-B0C4-5E1279EC9889}" type="datetimeFigureOut">
              <a:rPr lang="es-CL" smtClean="0"/>
              <a:t>03-05-2026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B4D14-A2E5-4C4B-90DA-21511E7AC3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23155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CC191-E861-41FE-B0C4-5E1279EC9889}" type="datetimeFigureOut">
              <a:rPr lang="es-CL" smtClean="0"/>
              <a:t>03-05-2026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B4D14-A2E5-4C4B-90DA-21511E7AC3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07817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CC191-E861-41FE-B0C4-5E1279EC9889}" type="datetimeFigureOut">
              <a:rPr lang="es-CL" smtClean="0"/>
              <a:t>03-05-2026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B4D14-A2E5-4C4B-90DA-21511E7AC3F2}" type="slidenum">
              <a:rPr lang="es-CL" smtClean="0"/>
              <a:t>‹Nº›</a:t>
            </a:fld>
            <a:endParaRPr lang="es-CL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93998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CC191-E861-41FE-B0C4-5E1279EC9889}" type="datetimeFigureOut">
              <a:rPr lang="es-CL" smtClean="0"/>
              <a:t>03-05-2026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B4D14-A2E5-4C4B-90DA-21511E7AC3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1240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CC191-E861-41FE-B0C4-5E1279EC9889}" type="datetimeFigureOut">
              <a:rPr lang="es-CL" smtClean="0"/>
              <a:t>03-05-2026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B4D14-A2E5-4C4B-90DA-21511E7AC3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649550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CC191-E861-41FE-B0C4-5E1279EC9889}" type="datetimeFigureOut">
              <a:rPr lang="es-CL" smtClean="0"/>
              <a:t>03-05-2026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B4D14-A2E5-4C4B-90DA-21511E7AC3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475978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CC191-E861-41FE-B0C4-5E1279EC9889}" type="datetimeFigureOut">
              <a:rPr lang="es-CL" smtClean="0"/>
              <a:t>03-05-2026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B4D14-A2E5-4C4B-90DA-21511E7AC3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137763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CC191-E861-41FE-B0C4-5E1279EC9889}" type="datetimeFigureOut">
              <a:rPr lang="es-CL" smtClean="0"/>
              <a:t>03-05-2026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B4D14-A2E5-4C4B-90DA-21511E7AC3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7265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78CC191-E861-41FE-B0C4-5E1279EC9889}" type="datetimeFigureOut">
              <a:rPr lang="es-CL" smtClean="0"/>
              <a:t>03-05-2026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AEB4D14-A2E5-4C4B-90DA-21511E7AC3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49713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  <p:sldLayoutId id="2147483753" r:id="rId13"/>
    <p:sldLayoutId id="2147483754" r:id="rId14"/>
    <p:sldLayoutId id="2147483755" r:id="rId15"/>
    <p:sldLayoutId id="2147483756" r:id="rId16"/>
    <p:sldLayoutId id="214748375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E91335-B838-5A9D-9C85-F3FA623633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903" y="3429000"/>
            <a:ext cx="4992478" cy="1152689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r>
              <a:rPr lang="en-US" sz="4900" dirty="0">
                <a:latin typeface="Boucherie Block" panose="020F0502020204030204" pitchFamily="2" charset="0"/>
              </a:rPr>
              <a:t>Distrito Beauty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A6F992E-E4BC-CFCF-0FCE-3E50F4351B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6591" y="4689249"/>
            <a:ext cx="4332390" cy="1399223"/>
          </a:xfrm>
        </p:spPr>
        <p:txBody>
          <a:bodyPr vert="horz" lIns="91440" tIns="45720" rIns="91440" bIns="45720" rtlCol="0" anchor="ctr">
            <a:no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Nombre : Dylan Valenzuela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Jefe de Proyecto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9083613-61DA-D30D-46C0-49CBE5810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2024" y="1098736"/>
            <a:ext cx="5621205" cy="498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516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15"/>
    </mc:Choice>
    <mc:Fallback xmlns="">
      <p:transition spd="slow" advTm="1001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24451F-FB2B-8A56-0C65-DC5325783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26C200-FE7D-D490-23E3-6D1C52DEFC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4344" y="585985"/>
            <a:ext cx="4036334" cy="65967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l"/>
            <a:r>
              <a:rPr lang="en-US" sz="5400" dirty="0">
                <a:latin typeface="Bahnschrift SemiBold SemiConden" panose="020B0502040204020203" pitchFamily="34" charset="0"/>
              </a:rPr>
              <a:t>Contexto 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5D62290E-D502-2ECA-A1AB-9240B0BC8997}"/>
              </a:ext>
            </a:extLst>
          </p:cNvPr>
          <p:cNvSpPr txBox="1">
            <a:spLocks/>
          </p:cNvSpPr>
          <p:nvPr/>
        </p:nvSpPr>
        <p:spPr>
          <a:xfrm>
            <a:off x="922666" y="5877794"/>
            <a:ext cx="4036333" cy="2547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0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3461B6B-AA30-BEE2-EFA3-661F7BAA78C8}"/>
              </a:ext>
            </a:extLst>
          </p:cNvPr>
          <p:cNvSpPr txBox="1"/>
          <p:nvPr/>
        </p:nvSpPr>
        <p:spPr>
          <a:xfrm>
            <a:off x="1159248" y="3866024"/>
            <a:ext cx="904663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Problema:</a:t>
            </a:r>
            <a:endParaRPr lang="es-ES" sz="2400" dirty="0"/>
          </a:p>
          <a:p>
            <a:r>
              <a:rPr lang="es-ES" sz="2400" dirty="0"/>
              <a:t>Agendamiento manual genera errores y duplicidad de horas.</a:t>
            </a:r>
          </a:p>
          <a:p>
            <a:r>
              <a:rPr lang="es-ES" sz="2400" dirty="0"/>
              <a:t>No existe un sistema centralizado para gestionar servicios y clientes.</a:t>
            </a:r>
          </a:p>
          <a:p>
            <a:r>
              <a:rPr lang="es-ES" sz="2400" dirty="0"/>
              <a:t>No se solicita abono previo, lo que provoca ausencias y pérdidas económicas.</a:t>
            </a:r>
          </a:p>
          <a:p>
            <a:endParaRPr lang="es-CL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37E11B8-E048-CA91-63BE-3BE0C519C9A1}"/>
              </a:ext>
            </a:extLst>
          </p:cNvPr>
          <p:cNvSpPr txBox="1"/>
          <p:nvPr/>
        </p:nvSpPr>
        <p:spPr>
          <a:xfrm>
            <a:off x="962603" y="1669588"/>
            <a:ext cx="890898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Powerful Nails es un emprendimiento de servicios de manicure que cuenta con 2 a 3 profesionales y atiende aproximadamente entre 20 a 60 clientes mensuales. Actualmente, la gestión de reservas se realiza mediante redes sociales (Instagram/WhatsApp) y registros manuales, lo que dificulta la organización de horarios y el control de los servicios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71073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4FECA2-60DA-B933-6459-F3F4493E4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FC4172-209D-B385-02E2-B5253D9F82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69546" y="545829"/>
            <a:ext cx="6052907" cy="65967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l"/>
            <a:r>
              <a:rPr lang="en-US" sz="5400" dirty="0">
                <a:latin typeface="Bahnschrift SemiBold SemiConden" panose="020B0502040204020203" pitchFamily="34" charset="0"/>
              </a:rPr>
              <a:t>Objetivo General 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07318CA1-B3EA-E979-354A-5C3294B6CAF1}"/>
              </a:ext>
            </a:extLst>
          </p:cNvPr>
          <p:cNvSpPr txBox="1">
            <a:spLocks/>
          </p:cNvSpPr>
          <p:nvPr/>
        </p:nvSpPr>
        <p:spPr>
          <a:xfrm>
            <a:off x="922666" y="5877794"/>
            <a:ext cx="4036333" cy="2547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0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42E9BE2-13FA-695C-49AC-17EE052763D1}"/>
              </a:ext>
            </a:extLst>
          </p:cNvPr>
          <p:cNvSpPr txBox="1"/>
          <p:nvPr/>
        </p:nvSpPr>
        <p:spPr>
          <a:xfrm>
            <a:off x="1228263" y="1874917"/>
            <a:ext cx="102658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Desarrollar una </a:t>
            </a:r>
            <a:r>
              <a:rPr lang="es-ES" sz="2400" b="1" dirty="0"/>
              <a:t>plataforma web</a:t>
            </a:r>
            <a:r>
              <a:rPr lang="es-ES" sz="2400" dirty="0"/>
              <a:t> que permita gestionar reservas, servicios, pagos y control de ingresos en </a:t>
            </a:r>
            <a:r>
              <a:rPr lang="es-ES" sz="2400" dirty="0" err="1"/>
              <a:t>Powerful</a:t>
            </a:r>
            <a:r>
              <a:rPr lang="es-ES" sz="2400" dirty="0"/>
              <a:t> </a:t>
            </a:r>
            <a:r>
              <a:rPr lang="es-ES" sz="2400" dirty="0" err="1"/>
              <a:t>Nails</a:t>
            </a:r>
            <a:r>
              <a:rPr lang="es-ES" sz="2400" dirty="0"/>
              <a:t>.</a:t>
            </a:r>
            <a:endParaRPr lang="en-US" sz="24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D0707A0-3EAD-799E-88E3-14FBEC3BD2B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739731" y="2791444"/>
            <a:ext cx="924290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Implementar sistema de reservas con calendario en tiempo real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Permitir selección de servicios + adicionales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Calcular automáticamente el total de la reserva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Integrar pago de abono (Webpay)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Notificar estado de citas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Registrar y visualizar ganancias por manicurista </a:t>
            </a:r>
          </a:p>
        </p:txBody>
      </p:sp>
    </p:spTree>
    <p:extLst>
      <p:ext uri="{BB962C8B-B14F-4D97-AF65-F5344CB8AC3E}">
        <p14:creationId xmlns:p14="http://schemas.microsoft.com/office/powerpoint/2010/main" val="2326234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E1F8B6-B4F7-3765-5228-5C1237B8C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137F7CE3-7C53-B169-D5C1-3AF64AB98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5753" y="796413"/>
            <a:ext cx="9144000" cy="759314"/>
          </a:xfrm>
        </p:spPr>
        <p:txBody>
          <a:bodyPr>
            <a:normAutofit fontScale="90000"/>
          </a:bodyPr>
          <a:lstStyle/>
          <a:p>
            <a:r>
              <a:rPr lang="es-CL" sz="4900" dirty="0">
                <a:latin typeface="Bahnschrift SemiBold SemiConden" panose="020B0502040204020203" pitchFamily="34" charset="0"/>
              </a:rPr>
              <a:t>Actores</a:t>
            </a:r>
            <a:r>
              <a:rPr lang="es-CL" sz="4400" dirty="0"/>
              <a:t> </a:t>
            </a:r>
            <a:r>
              <a:rPr lang="es-CL" sz="4900" dirty="0">
                <a:latin typeface="Bahnschrift SemiBold SemiConden" panose="020B0502040204020203" pitchFamily="34" charset="0"/>
              </a:rPr>
              <a:t>del sistema</a:t>
            </a:r>
          </a:p>
        </p:txBody>
      </p:sp>
      <p:sp>
        <p:nvSpPr>
          <p:cNvPr id="9" name="Subtítulo 5">
            <a:extLst>
              <a:ext uri="{FF2B5EF4-FFF2-40B4-BE49-F238E27FC236}">
                <a16:creationId xmlns:a16="http://schemas.microsoft.com/office/drawing/2014/main" id="{EC89DC9F-C58D-D84C-6CC1-854517357EC1}"/>
              </a:ext>
            </a:extLst>
          </p:cNvPr>
          <p:cNvSpPr txBox="1">
            <a:spLocks/>
          </p:cNvSpPr>
          <p:nvPr/>
        </p:nvSpPr>
        <p:spPr>
          <a:xfrm>
            <a:off x="6513055" y="1748399"/>
            <a:ext cx="5678945" cy="2523768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br>
              <a:rPr lang="es-ES" sz="5900" dirty="0"/>
            </a:br>
            <a:r>
              <a:rPr lang="es-CL" sz="5900" dirty="0"/>
              <a:t>Manicurista 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L" sz="5900" dirty="0"/>
              <a:t>Visualiza agenda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L" sz="5900" dirty="0"/>
              <a:t>Gestiona disponibilidad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L" sz="5900" dirty="0"/>
              <a:t>Ve sus ganancias generadas</a:t>
            </a:r>
          </a:p>
          <a:p>
            <a:endParaRPr lang="es-CL" dirty="0"/>
          </a:p>
        </p:txBody>
      </p:sp>
      <p:sp>
        <p:nvSpPr>
          <p:cNvPr id="10" name="Subtítulo 5">
            <a:extLst>
              <a:ext uri="{FF2B5EF4-FFF2-40B4-BE49-F238E27FC236}">
                <a16:creationId xmlns:a16="http://schemas.microsoft.com/office/drawing/2014/main" id="{CC18D3F0-373F-57DB-597A-315DD6DA2853}"/>
              </a:ext>
            </a:extLst>
          </p:cNvPr>
          <p:cNvSpPr txBox="1">
            <a:spLocks/>
          </p:cNvSpPr>
          <p:nvPr/>
        </p:nvSpPr>
        <p:spPr>
          <a:xfrm>
            <a:off x="3392129" y="4164904"/>
            <a:ext cx="5181599" cy="210410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br>
              <a:rPr lang="es-ES" sz="3100" dirty="0"/>
            </a:br>
            <a:r>
              <a:rPr lang="es-ES" sz="3100" dirty="0"/>
              <a:t>Administrador 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sz="3100" dirty="0"/>
              <a:t>Gestiona servicios y precios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sz="3100" dirty="0"/>
              <a:t>Administra reservas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sz="3100" dirty="0"/>
              <a:t>Controla ingresos y reportes</a:t>
            </a:r>
          </a:p>
          <a:p>
            <a:endParaRPr lang="es-CL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2512520-EB99-2B3A-4D42-2E1B514FA0F3}"/>
              </a:ext>
            </a:extLst>
          </p:cNvPr>
          <p:cNvSpPr txBox="1"/>
          <p:nvPr/>
        </p:nvSpPr>
        <p:spPr>
          <a:xfrm>
            <a:off x="914400" y="1736083"/>
            <a:ext cx="5285653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sz="2800" dirty="0"/>
              <a:t>Cliente 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sz="2800" dirty="0"/>
              <a:t>Reserva horas desde la web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sz="2800" dirty="0"/>
              <a:t>Selecciona servicios y adicionales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sz="2800" dirty="0"/>
              <a:t>Visualiza total en tiempo real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sz="2800" dirty="0"/>
              <a:t>Paga abono 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738460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61A0CF-9D72-2915-0D9F-648442072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709278-DE94-D120-53C0-85CD45CFCE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6199" y="655708"/>
            <a:ext cx="9061407" cy="65967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l"/>
            <a:r>
              <a:rPr lang="en-US" sz="5400" dirty="0">
                <a:latin typeface="Bahnschrift SemiBold SemiConden" panose="020B0502040204020203" pitchFamily="34" charset="0"/>
              </a:rPr>
              <a:t>ALCANCE DEL SISTEMA</a:t>
            </a:r>
            <a:br>
              <a:rPr lang="en-US" sz="5400" dirty="0">
                <a:latin typeface="Bahnschrift SemiBold SemiConden" panose="020B0502040204020203" pitchFamily="34" charset="0"/>
              </a:rPr>
            </a:br>
            <a:endParaRPr lang="en-US" sz="5400" dirty="0">
              <a:latin typeface="Bahnschrift SemiBold SemiConden" panose="020B0502040204020203" pitchFamily="34" charset="0"/>
            </a:endParaRP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E34179D2-756F-C943-2195-5110A2E20397}"/>
              </a:ext>
            </a:extLst>
          </p:cNvPr>
          <p:cNvSpPr txBox="1">
            <a:spLocks/>
          </p:cNvSpPr>
          <p:nvPr/>
        </p:nvSpPr>
        <p:spPr>
          <a:xfrm>
            <a:off x="922666" y="5877794"/>
            <a:ext cx="4036333" cy="2547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0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E1C42F1-182B-AC41-5C58-659AB9713045}"/>
              </a:ext>
            </a:extLst>
          </p:cNvPr>
          <p:cNvSpPr txBox="1"/>
          <p:nvPr/>
        </p:nvSpPr>
        <p:spPr>
          <a:xfrm>
            <a:off x="2347163" y="1667693"/>
            <a:ext cx="786855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600" b="1" dirty="0"/>
              <a:t>Dentro del alcance:</a:t>
            </a:r>
          </a:p>
          <a:p>
            <a:endParaRPr lang="es-CL" sz="36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dirty="0"/>
              <a:t>Plataforma web responsive (no app móvil)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dirty="0"/>
              <a:t>Agendamiento con calendario dinámico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dirty="0"/>
              <a:t>Selección de servicios + adicionales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dirty="0"/>
              <a:t>Cálculo automático del total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dirty="0"/>
              <a:t>Pago de abono online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dirty="0"/>
              <a:t>Estados de reserva (pendiente, confirmada, cancelada)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dirty="0"/>
              <a:t>Panel administrador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dirty="0" err="1"/>
              <a:t>Dashboard</a:t>
            </a:r>
            <a:r>
              <a:rPr lang="es-CL" sz="2400" dirty="0"/>
              <a:t> de ganancias por manicurista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dirty="0"/>
              <a:t>Notificaciones por correo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992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DEC53F-DB7E-A9CE-06C4-1D8EB13F6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24B916-ACDA-F092-3BB1-66F631C80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8206" y="725481"/>
            <a:ext cx="9847988" cy="65967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l"/>
            <a:r>
              <a:rPr lang="en-US" sz="5400" dirty="0">
                <a:latin typeface="Bahnschrift SemiBold SemiConden" panose="020B0502040204020203" pitchFamily="34" charset="0"/>
              </a:rPr>
              <a:t>ALCANCE DEL SISTEMA</a:t>
            </a:r>
            <a:br>
              <a:rPr lang="en-US" sz="5400" dirty="0">
                <a:latin typeface="Bahnschrift SemiBold SemiConden" panose="020B0502040204020203" pitchFamily="34" charset="0"/>
              </a:rPr>
            </a:br>
            <a:endParaRPr lang="en-US" sz="5400" dirty="0">
              <a:latin typeface="Bahnschrift SemiBold SemiConden" panose="020B0502040204020203" pitchFamily="34" charset="0"/>
            </a:endParaRP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1660B0C6-4A52-E560-8965-DACCE324568F}"/>
              </a:ext>
            </a:extLst>
          </p:cNvPr>
          <p:cNvSpPr txBox="1">
            <a:spLocks/>
          </p:cNvSpPr>
          <p:nvPr/>
        </p:nvSpPr>
        <p:spPr>
          <a:xfrm>
            <a:off x="922666" y="5877794"/>
            <a:ext cx="4036333" cy="2547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0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BF9D44C-D3CC-00AA-88BD-79955ECB709B}"/>
              </a:ext>
            </a:extLst>
          </p:cNvPr>
          <p:cNvSpPr txBox="1"/>
          <p:nvPr/>
        </p:nvSpPr>
        <p:spPr>
          <a:xfrm>
            <a:off x="1974718" y="2100959"/>
            <a:ext cx="8083682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u="sng" dirty="0"/>
              <a:t>Fuera del alcance:</a:t>
            </a:r>
          </a:p>
          <a:p>
            <a:endParaRPr lang="es-ES" sz="3200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dirty="0"/>
              <a:t>Integración con sistemas contables avanzados o facturación electrónica completa.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dirty="0"/>
              <a:t>Sistema de inventario de productos (esmaltes, insumos, etc.).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dirty="0"/>
              <a:t>Múltiples sucursales (se considera un solo punto de atención).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540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500608-1064-7339-1B4C-D90869965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3953A2-F6E4-00C0-42E4-65F8F053A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1562" y="902664"/>
            <a:ext cx="10665908" cy="65967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l"/>
            <a:r>
              <a:rPr lang="es-ES" sz="5400" dirty="0">
                <a:latin typeface="Bahnschrift SemiBold SemiConden" panose="020B0502040204020203" pitchFamily="34" charset="0"/>
              </a:rPr>
              <a:t>Apis y Webservices a Integrar</a:t>
            </a:r>
            <a:br>
              <a:rPr lang="en-US" sz="5400" dirty="0">
                <a:latin typeface="Bahnschrift SemiBold SemiConden" panose="020B0502040204020203" pitchFamily="34" charset="0"/>
              </a:rPr>
            </a:br>
            <a:endParaRPr lang="en-US" sz="5400" dirty="0">
              <a:latin typeface="Bahnschrift SemiBold SemiConden" panose="020B0502040204020203" pitchFamily="34" charset="0"/>
            </a:endParaRP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BE439FD1-3492-877F-3AE6-F617156DDCB7}"/>
              </a:ext>
            </a:extLst>
          </p:cNvPr>
          <p:cNvSpPr txBox="1">
            <a:spLocks/>
          </p:cNvSpPr>
          <p:nvPr/>
        </p:nvSpPr>
        <p:spPr>
          <a:xfrm>
            <a:off x="922666" y="5877794"/>
            <a:ext cx="4036333" cy="2547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0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02BDFEB-234E-9F22-7E44-662CC9CBFA0F}"/>
              </a:ext>
            </a:extLst>
          </p:cNvPr>
          <p:cNvSpPr txBox="1"/>
          <p:nvPr/>
        </p:nvSpPr>
        <p:spPr>
          <a:xfrm>
            <a:off x="1897047" y="2090171"/>
            <a:ext cx="34821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Transbank (Webpay Plus):</a:t>
            </a:r>
            <a:br>
              <a:rPr lang="es-ES" dirty="0"/>
            </a:br>
            <a:r>
              <a:rPr lang="es-ES" dirty="0"/>
              <a:t>Pasarela de pago para gestionar el abono requerido al momento de reservar una hora.</a:t>
            </a:r>
            <a:endParaRPr lang="es-ES" b="1" u="sng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40E52AB-1D3C-B4D5-0969-8BEA6F6146DB}"/>
              </a:ext>
            </a:extLst>
          </p:cNvPr>
          <p:cNvSpPr txBox="1"/>
          <p:nvPr/>
        </p:nvSpPr>
        <p:spPr>
          <a:xfrm>
            <a:off x="1897047" y="3686493"/>
            <a:ext cx="34821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SendGrid:</a:t>
            </a:r>
            <a:br>
              <a:rPr lang="es-ES" dirty="0"/>
            </a:br>
            <a:r>
              <a:rPr lang="es-ES" dirty="0"/>
              <a:t>Envío de correos electrónicos para confirmación de reservas y notificaciones al cliente</a:t>
            </a:r>
            <a:endParaRPr lang="es-ES" b="1" u="sng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E432DEC-886B-B2BD-5CF6-A929A125C52A}"/>
              </a:ext>
            </a:extLst>
          </p:cNvPr>
          <p:cNvSpPr txBox="1"/>
          <p:nvPr/>
        </p:nvSpPr>
        <p:spPr>
          <a:xfrm>
            <a:off x="6941983" y="3686493"/>
            <a:ext cx="33529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WhatsApp: (opcional)</a:t>
            </a:r>
            <a:br>
              <a:rPr lang="es-ES" dirty="0"/>
            </a:br>
            <a:r>
              <a:rPr lang="es-ES" dirty="0"/>
              <a:t>Envío de mensajes vía WhatsApp para recordatorios de citas </a:t>
            </a:r>
            <a:endParaRPr lang="es-ES" b="1" u="sng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F8784AB-D8D9-4C43-E2F6-13D72205904A}"/>
              </a:ext>
            </a:extLst>
          </p:cNvPr>
          <p:cNvSpPr txBox="1"/>
          <p:nvPr/>
        </p:nvSpPr>
        <p:spPr>
          <a:xfrm>
            <a:off x="6941984" y="2090171"/>
            <a:ext cx="32540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Google Calendar API:</a:t>
            </a:r>
            <a:br>
              <a:rPr lang="es-ES" dirty="0"/>
            </a:br>
            <a:r>
              <a:rPr lang="es-ES" dirty="0"/>
              <a:t>Sincronización opcional de las reservas con el calendario personal del cliente.</a:t>
            </a:r>
            <a:endParaRPr lang="es-ES" b="1" u="sng" dirty="0"/>
          </a:p>
        </p:txBody>
      </p:sp>
    </p:spTree>
    <p:extLst>
      <p:ext uri="{BB962C8B-B14F-4D97-AF65-F5344CB8AC3E}">
        <p14:creationId xmlns:p14="http://schemas.microsoft.com/office/powerpoint/2010/main" val="603195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1FA7F8-C63B-CC98-872B-DC1B156CA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928596E9-6D1C-E2CB-FEB2-E103E730A23D}"/>
              </a:ext>
            </a:extLst>
          </p:cNvPr>
          <p:cNvSpPr txBox="1">
            <a:spLocks/>
          </p:cNvSpPr>
          <p:nvPr/>
        </p:nvSpPr>
        <p:spPr>
          <a:xfrm>
            <a:off x="922666" y="5877794"/>
            <a:ext cx="4036333" cy="2547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0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C471FE2-DFA2-07BC-1868-C6281E184D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36" r="-16"/>
          <a:stretch>
            <a:fillRect/>
          </a:stretch>
        </p:blipFill>
        <p:spPr>
          <a:xfrm>
            <a:off x="803499" y="1044247"/>
            <a:ext cx="5186898" cy="531032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F7A6C44-8FD5-F2BF-D37E-AC81363ED3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497"/>
          <a:stretch>
            <a:fillRect/>
          </a:stretch>
        </p:blipFill>
        <p:spPr>
          <a:xfrm>
            <a:off x="803499" y="391251"/>
            <a:ext cx="5186898" cy="57034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3DC0F130-D87D-3896-50C0-FB641CB59B36}"/>
              </a:ext>
            </a:extLst>
          </p:cNvPr>
          <p:cNvSpPr txBox="1"/>
          <p:nvPr/>
        </p:nvSpPr>
        <p:spPr>
          <a:xfrm>
            <a:off x="6343505" y="1476702"/>
            <a:ext cx="518689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u="sng" dirty="0"/>
              <a:t>Frontend (WEB)</a:t>
            </a:r>
          </a:p>
          <a:p>
            <a:r>
              <a:rPr lang="es-CL" dirty="0"/>
              <a:t>HTML / CSS / JS (Atoms design system) </a:t>
            </a:r>
          </a:p>
          <a:p>
            <a:r>
              <a:rPr lang="es-CL" dirty="0"/>
              <a:t>Interfaz responsive </a:t>
            </a:r>
          </a:p>
          <a:p>
            <a:r>
              <a:rPr lang="es-CL" dirty="0"/>
              <a:t>Funcionalidades:</a:t>
            </a:r>
          </a:p>
          <a:p>
            <a:r>
              <a:rPr lang="es-CL" dirty="0"/>
              <a:t>Reservas </a:t>
            </a:r>
          </a:p>
          <a:p>
            <a:r>
              <a:rPr lang="es-CL" dirty="0"/>
              <a:t>Selección de servicios </a:t>
            </a:r>
          </a:p>
          <a:p>
            <a:r>
              <a:rPr lang="es-CL" dirty="0"/>
              <a:t>Visualización de total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807CBC8-402C-167C-1973-35ACDE1E6946}"/>
              </a:ext>
            </a:extLst>
          </p:cNvPr>
          <p:cNvSpPr txBox="1"/>
          <p:nvPr/>
        </p:nvSpPr>
        <p:spPr>
          <a:xfrm>
            <a:off x="6323280" y="391251"/>
            <a:ext cx="229523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dirty="0">
                <a:latin typeface="Bahnschrift SemiBold SemiConden" panose="020B0502040204020203" pitchFamily="34" charset="0"/>
              </a:rPr>
              <a:t>ARQUITECTURA </a:t>
            </a:r>
            <a:br>
              <a:rPr lang="es-ES" sz="2800" dirty="0">
                <a:latin typeface="Bahnschrift SemiBold SemiConden" panose="020B0502040204020203" pitchFamily="34" charset="0"/>
              </a:rPr>
            </a:br>
            <a:r>
              <a:rPr lang="es-ES" sz="2800" dirty="0">
                <a:latin typeface="Bahnschrift SemiBold SemiConden" panose="020B0502040204020203" pitchFamily="34" charset="0"/>
              </a:rPr>
              <a:t>3 CAPAS</a:t>
            </a: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1221833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9C8414-B149-A76E-AA1D-E87036C7C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72450D2E-B965-B21C-E57D-724862D0F832}"/>
              </a:ext>
            </a:extLst>
          </p:cNvPr>
          <p:cNvSpPr txBox="1">
            <a:spLocks/>
          </p:cNvSpPr>
          <p:nvPr/>
        </p:nvSpPr>
        <p:spPr>
          <a:xfrm>
            <a:off x="922666" y="5877794"/>
            <a:ext cx="4036333" cy="2547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0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B2B1080-E8EA-781F-48F1-FC4F3A56B4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36" r="-16"/>
          <a:stretch>
            <a:fillRect/>
          </a:stretch>
        </p:blipFill>
        <p:spPr>
          <a:xfrm>
            <a:off x="803499" y="1044247"/>
            <a:ext cx="5186898" cy="531032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44B618E-45BB-509A-25E6-0A21F4C7A0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497"/>
          <a:stretch>
            <a:fillRect/>
          </a:stretch>
        </p:blipFill>
        <p:spPr>
          <a:xfrm>
            <a:off x="803499" y="391251"/>
            <a:ext cx="5186898" cy="570340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27E04164-4B4F-C33A-941E-063D6AC8F762}"/>
              </a:ext>
            </a:extLst>
          </p:cNvPr>
          <p:cNvSpPr txBox="1"/>
          <p:nvPr/>
        </p:nvSpPr>
        <p:spPr>
          <a:xfrm>
            <a:off x="6323280" y="391251"/>
            <a:ext cx="229523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dirty="0">
                <a:latin typeface="Bahnschrift SemiBold SemiConden" panose="020B0502040204020203" pitchFamily="34" charset="0"/>
              </a:rPr>
              <a:t>ARQUITECTURA </a:t>
            </a:r>
            <a:br>
              <a:rPr lang="es-ES" sz="2800" dirty="0">
                <a:latin typeface="Bahnschrift SemiBold SemiConden" panose="020B0502040204020203" pitchFamily="34" charset="0"/>
              </a:rPr>
            </a:br>
            <a:r>
              <a:rPr lang="es-ES" sz="2800" dirty="0">
                <a:latin typeface="Bahnschrift SemiBold SemiConden" panose="020B0502040204020203" pitchFamily="34" charset="0"/>
              </a:rPr>
              <a:t>3 CAPAS</a:t>
            </a:r>
            <a:endParaRPr lang="es-CL" sz="28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E379C38-715B-C083-0C18-5FB20FEF878B}"/>
              </a:ext>
            </a:extLst>
          </p:cNvPr>
          <p:cNvSpPr txBox="1"/>
          <p:nvPr/>
        </p:nvSpPr>
        <p:spPr>
          <a:xfrm>
            <a:off x="6315417" y="1582022"/>
            <a:ext cx="475015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Negocio:</a:t>
            </a:r>
          </a:p>
          <a:p>
            <a:r>
              <a:rPr lang="es-ES" dirty="0"/>
              <a:t>Backend desarrollado en </a:t>
            </a:r>
            <a:r>
              <a:rPr lang="es-ES" b="1" dirty="0"/>
              <a:t>Node.js con Express</a:t>
            </a:r>
            <a:r>
              <a:rPr lang="es-ES" dirty="0"/>
              <a:t>, encargado de procesar la lógica del sistema.</a:t>
            </a:r>
          </a:p>
          <a:p>
            <a:r>
              <a:rPr lang="es-ES" dirty="0"/>
              <a:t>Se estructura en los siguientes módulos:</a:t>
            </a:r>
          </a:p>
          <a:p>
            <a:r>
              <a:rPr lang="es-ES" b="1" dirty="0"/>
              <a:t>Reservas:</a:t>
            </a:r>
            <a:r>
              <a:rPr lang="es-ES" dirty="0"/>
              <a:t> agendamiento, modificación y cancelación</a:t>
            </a:r>
          </a:p>
          <a:p>
            <a:r>
              <a:rPr lang="es-ES" b="1" dirty="0"/>
              <a:t>Servicios:</a:t>
            </a:r>
            <a:r>
              <a:rPr lang="es-ES" dirty="0"/>
              <a:t> categorías, precios y adicionales</a:t>
            </a:r>
          </a:p>
          <a:p>
            <a:r>
              <a:rPr lang="es-ES" b="1" dirty="0"/>
              <a:t>Pagos:</a:t>
            </a:r>
            <a:r>
              <a:rPr lang="es-ES" dirty="0"/>
              <a:t> integración con Webpay para abonos</a:t>
            </a:r>
          </a:p>
          <a:p>
            <a:r>
              <a:rPr lang="es-ES" b="1" dirty="0"/>
              <a:t>Notificaciones:</a:t>
            </a:r>
            <a:r>
              <a:rPr lang="es-ES" dirty="0"/>
              <a:t> envío de correos y/o SMS</a:t>
            </a:r>
          </a:p>
          <a:p>
            <a:r>
              <a:rPr lang="es-ES" dirty="0"/>
              <a:t>Esta capa también gestiona la comunicación con APIs externas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694391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A9A447-5D6B-EEBA-A612-5E3C652D8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B4543F5B-6950-20DA-CA8C-6B1F52AA35AC}"/>
              </a:ext>
            </a:extLst>
          </p:cNvPr>
          <p:cNvSpPr txBox="1">
            <a:spLocks/>
          </p:cNvSpPr>
          <p:nvPr/>
        </p:nvSpPr>
        <p:spPr>
          <a:xfrm>
            <a:off x="922666" y="5877794"/>
            <a:ext cx="4036333" cy="2547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0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9469780-A175-DD1C-2A4B-89C00A7B44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36" r="-16"/>
          <a:stretch>
            <a:fillRect/>
          </a:stretch>
        </p:blipFill>
        <p:spPr>
          <a:xfrm>
            <a:off x="803499" y="1044247"/>
            <a:ext cx="5186898" cy="531032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645CB6D-348F-9994-6A9C-0F511124D8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497"/>
          <a:stretch>
            <a:fillRect/>
          </a:stretch>
        </p:blipFill>
        <p:spPr>
          <a:xfrm>
            <a:off x="803499" y="391251"/>
            <a:ext cx="5186898" cy="570340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8EB5199C-04F7-C052-FC21-BC91F76B69D5}"/>
              </a:ext>
            </a:extLst>
          </p:cNvPr>
          <p:cNvSpPr txBox="1"/>
          <p:nvPr/>
        </p:nvSpPr>
        <p:spPr>
          <a:xfrm>
            <a:off x="6323280" y="391251"/>
            <a:ext cx="229523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dirty="0">
                <a:latin typeface="Bahnschrift SemiBold SemiConden" panose="020B0502040204020203" pitchFamily="34" charset="0"/>
              </a:rPr>
              <a:t>ARQUITECTURA </a:t>
            </a:r>
            <a:br>
              <a:rPr lang="es-ES" sz="2800" dirty="0">
                <a:latin typeface="Bahnschrift SemiBold SemiConden" panose="020B0502040204020203" pitchFamily="34" charset="0"/>
              </a:rPr>
            </a:br>
            <a:r>
              <a:rPr lang="es-ES" sz="2800" dirty="0">
                <a:latin typeface="Bahnschrift SemiBold SemiConden" panose="020B0502040204020203" pitchFamily="34" charset="0"/>
              </a:rPr>
              <a:t>3 CAPAS</a:t>
            </a:r>
            <a:endParaRPr lang="es-CL" sz="28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74D790D-3716-AB2C-B713-5F9096649578}"/>
              </a:ext>
            </a:extLst>
          </p:cNvPr>
          <p:cNvSpPr txBox="1"/>
          <p:nvPr/>
        </p:nvSpPr>
        <p:spPr>
          <a:xfrm>
            <a:off x="6330208" y="1494970"/>
            <a:ext cx="47501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Datos:</a:t>
            </a:r>
          </a:p>
          <a:p>
            <a:r>
              <a:rPr lang="es-ES" dirty="0"/>
              <a:t>Base de datos centralizada para almacenar la información del sistema.</a:t>
            </a:r>
          </a:p>
          <a:p>
            <a:r>
              <a:rPr lang="es-ES" b="1" dirty="0"/>
              <a:t>PostgreSQL </a:t>
            </a:r>
            <a:r>
              <a:rPr lang="es-ES" dirty="0"/>
              <a:t>para: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Reservas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Servicios</a:t>
            </a:r>
          </a:p>
          <a:p>
            <a:endParaRPr lang="es-CL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CAA9FB9-553B-0302-C1BA-E65EA2A45E9E}"/>
              </a:ext>
            </a:extLst>
          </p:cNvPr>
          <p:cNvSpPr txBox="1"/>
          <p:nvPr/>
        </p:nvSpPr>
        <p:spPr>
          <a:xfrm>
            <a:off x="6216336" y="3608704"/>
            <a:ext cx="460347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Integración con APIs externas:</a:t>
            </a:r>
          </a:p>
          <a:p>
            <a:r>
              <a:rPr lang="es-ES" dirty="0"/>
              <a:t>Consumidas desde el backend: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Webpay Plus (pagos)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Servicio de correos (confirmaciones)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Google Calendar (disponibilidad)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671799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6D997C-2015-24FC-F4CD-9247F2556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7ADF009F-7587-90A3-094D-15288587D228}"/>
              </a:ext>
            </a:extLst>
          </p:cNvPr>
          <p:cNvSpPr txBox="1">
            <a:spLocks/>
          </p:cNvSpPr>
          <p:nvPr/>
        </p:nvSpPr>
        <p:spPr>
          <a:xfrm>
            <a:off x="922666" y="5877794"/>
            <a:ext cx="4036333" cy="2547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0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1EE711B-58F6-4DFF-0854-6DBF631BD3CC}"/>
              </a:ext>
            </a:extLst>
          </p:cNvPr>
          <p:cNvSpPr txBox="1"/>
          <p:nvPr/>
        </p:nvSpPr>
        <p:spPr>
          <a:xfrm>
            <a:off x="8565777" y="582489"/>
            <a:ext cx="3131681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900" dirty="0">
                <a:latin typeface="Bahnschrift SemiBold SemiConden" panose="020B0502040204020203" pitchFamily="34" charset="0"/>
                <a:ea typeface="+mj-ea"/>
                <a:cs typeface="+mj-cs"/>
              </a:rPr>
              <a:t>Carta </a:t>
            </a:r>
            <a:r>
              <a:rPr lang="es-ES" sz="4900" dirty="0" err="1">
                <a:latin typeface="Bahnschrift SemiBold SemiConden" panose="020B0502040204020203" pitchFamily="34" charset="0"/>
                <a:ea typeface="+mj-ea"/>
                <a:cs typeface="+mj-cs"/>
              </a:rPr>
              <a:t>Gant</a:t>
            </a:r>
            <a:endParaRPr lang="es-CL" sz="4900" dirty="0">
              <a:latin typeface="Bahnschrift SemiBold SemiConden" panose="020B0502040204020203" pitchFamily="34" charset="0"/>
              <a:ea typeface="+mj-ea"/>
              <a:cs typeface="+mj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F071EC8-3B4B-F325-8966-9C1B33C3E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81" y="582489"/>
            <a:ext cx="7932996" cy="620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694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801DFB-6E5F-8B46-F4A4-ABE569E86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Fin</a:t>
            </a:r>
            <a:endParaRPr lang="es-CL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3CAF51-631A-AC94-90B6-B96BEB9AE65C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617816" y="2412881"/>
            <a:ext cx="895636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Mejora la experiencia del cliente.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Optimiza la gestión interna.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Aumenta ingresos y control del negocio.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Proyecto escalable a futuro (app móvil, pagos online, etc.). </a:t>
            </a:r>
          </a:p>
        </p:txBody>
      </p:sp>
    </p:spTree>
    <p:extLst>
      <p:ext uri="{BB962C8B-B14F-4D97-AF65-F5344CB8AC3E}">
        <p14:creationId xmlns:p14="http://schemas.microsoft.com/office/powerpoint/2010/main" val="4220831911"/>
      </p:ext>
    </p:extLst>
  </p:cSld>
  <p:clrMapOvr>
    <a:masterClrMapping/>
  </p:clrMapOvr>
</p:sld>
</file>

<file path=ppt/theme/theme1.xml><?xml version="1.0" encoding="utf-8"?>
<a:theme xmlns:a="http://schemas.openxmlformats.org/drawingml/2006/main" name="Gota">
  <a:themeElements>
    <a:clrScheme name="Gota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Gota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ota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TM04033925[[fn=Gota]]</Template>
  <TotalTime>205</TotalTime>
  <Words>559</Words>
  <Application>Microsoft Office PowerPoint</Application>
  <PresentationFormat>Panorámica</PresentationFormat>
  <Paragraphs>89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Aptos</vt:lpstr>
      <vt:lpstr>Arial</vt:lpstr>
      <vt:lpstr>Bahnschrift SemiBold SemiConden</vt:lpstr>
      <vt:lpstr>Boucherie Block</vt:lpstr>
      <vt:lpstr>Tw Cen MT</vt:lpstr>
      <vt:lpstr>Gota</vt:lpstr>
      <vt:lpstr>Distrito Beauty</vt:lpstr>
      <vt:lpstr>Contexto </vt:lpstr>
      <vt:lpstr>Objetivo General </vt:lpstr>
      <vt:lpstr>Actores del sistema</vt:lpstr>
      <vt:lpstr>ALCANCE DEL SISTEMA </vt:lpstr>
      <vt:lpstr>ALCANCE DEL SISTEMA </vt:lpstr>
      <vt:lpstr>Apis y Webservices a Integrar </vt:lpstr>
      <vt:lpstr>Presentación de PowerPoint</vt:lpstr>
      <vt:lpstr>Presentación de PowerPoint</vt:lpstr>
      <vt:lpstr>Presentación de PowerPoint</vt:lpstr>
      <vt:lpstr>Presentación de PowerPoint</vt:lpstr>
      <vt:lpstr>Fin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DYLAN EDUARDO VALENZUELA GARRIDO</dc:creator>
  <cp:lastModifiedBy>dylan valenzuela</cp:lastModifiedBy>
  <cp:revision>5</cp:revision>
  <dcterms:created xsi:type="dcterms:W3CDTF">2026-03-18T00:32:26Z</dcterms:created>
  <dcterms:modified xsi:type="dcterms:W3CDTF">2026-05-03T23:03:10Z</dcterms:modified>
</cp:coreProperties>
</file>